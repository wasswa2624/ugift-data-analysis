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4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787E-9F89-433F-B849-34A9D7BA0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AD17F-9ED8-4F42-A660-697D727D1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8575D-3FDF-4BA5-BFA2-A4393621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A03B8-9409-4A01-988F-E614F696311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5892800"/>
            <a:ext cx="2835564" cy="96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E1D84-43EF-4B90-88A0-BC0FBE813D5E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764" y="5735638"/>
            <a:ext cx="3057236" cy="11223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869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C323-AE57-41A5-8B40-4ABB6B6C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581E-7E4C-4D6B-A5A6-98BFA34C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5C23-19B7-421F-8E67-9E6CC750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4">
                    <a:lumMod val="20000"/>
                    <a:lumOff val="8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@2026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C4973-0622-46B4-B47F-B9D05A0D29A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6311900"/>
            <a:ext cx="2835564" cy="5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BC16EF-15F7-4CEE-A9AF-FC21ADEAA438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090" y="6176962"/>
            <a:ext cx="3278910" cy="6810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586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7D84-C754-42A1-8C39-9D7844DF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DA43A-198A-445B-B314-371EC9CE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AD1E-2EB4-464B-9905-6D580650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60D5-93CE-4D48-8CA5-370C0B3F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5E31B-262D-4965-B099-CF8372ED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EEC5-1AD9-4341-BA5C-EDEF21F1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787A-38DA-4904-A21F-41FEC06BA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315D-8CED-4196-8FD1-189B59197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D26EE-7714-4FFE-9393-080A51B2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5B00C-FAC6-40F0-B24B-39A00DF1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2C115-CFA3-4CD8-A008-7702EA91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B6A8-F7D5-4735-99F4-5750BC85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BA9B-D220-4599-8529-6FBBC967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D7463-4EEE-45F0-8BD8-50B76634F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BF00E-D760-4A4A-B1C1-58AC531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4E8A5-FFBD-45CB-8E37-F81C1A434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CDAF7-D570-441A-8ED8-A35B71C7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2CDB3-06A8-46E9-AF92-99586BBA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68675-433B-4260-AA13-18CB0AD5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C35F-A6C7-44FE-B7A6-43FDBED5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B2F3B-27E8-4B33-893A-13045387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5E2EF-A7A4-4B1F-9F6A-D9791125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F3B84-EB70-493E-A4D4-2600E041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47D7A-BD36-4D7F-AA2F-048FAFF5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A1AC7-FEA0-4361-B1A1-025C4316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FF7C-F19C-4848-BE41-A4DCE73C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1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B42C-5915-49F8-8304-1CA59C85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762A8-B6C6-4BDD-819E-EE7329316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6A9D9-8ABF-4CEE-92F6-C7CADDE55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FBDF0-9488-4CE4-9F87-D29D7431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F29E-AE2F-4CFF-AB87-FA8F889B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74583-6D2A-47A6-A64E-8777CB9E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7F9F-64D0-4DF3-91BE-661E1CC6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2FED8-1137-4793-BF53-6976237B9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2D1F1-2085-4EA8-A346-56A53375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7C473-09DE-4934-9D5C-134D4CA7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24ADD-28FF-4C54-8FC0-B876F228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7DF56-31FE-4C5E-A65A-F9A5D7D4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8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2E8E-D94D-408B-8ADF-21374681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45949-7E08-4EEB-A7EC-17BC9A9F9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D840F-CEC7-4873-A8AC-B4C7866B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2154-1C88-4F0D-8D0D-90AD04FA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63D2C-1FFC-4083-B520-BF96D6D6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6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FA373-5E24-41AE-99E8-936228E9B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8D1BD-8E76-4E55-BA59-8C9C6DEF9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F6B08-77D5-4EC5-9341-5017E723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C922-4E8E-486F-BE97-DCDD1CE4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27B4-7BDE-4119-98E7-B3C7674C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4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156C-4233-4BBD-8985-D14F51B1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3FA0D-4685-44C3-862F-1840924E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4744-D66D-4CA2-AB9D-9C9A517ED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3122B-F323-429F-88E8-31624B56EBB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3365C-1477-4B75-8010-6768DA6F4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61452-DDE7-4D14-A2B9-EF06B6E1D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9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34C1FD-8E33-4068-8AE9-7D5B2E110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4947"/>
            <a:ext cx="9355494" cy="138093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/>
            </a:r>
            <a:br>
              <a:rPr lang="en-US" dirty="0"/>
            </a:br>
            <a:r>
              <a:rPr lang="en-US" sz="4900" b="1" dirty="0">
                <a:latin typeface="Arial Narrow" panose="020B0606020202030204" pitchFamily="34" charset="0"/>
              </a:rPr>
              <a:t>Uganda Intergovernmental Fiscal Transfers Program (UGIFT</a:t>
            </a:r>
            <a:r>
              <a:rPr lang="en-US" b="1" dirty="0"/>
              <a:t>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18914E-FF71-4BFB-B0EC-AE64B37C7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5714"/>
            <a:ext cx="9144000" cy="2267339"/>
          </a:xfrm>
        </p:spPr>
        <p:txBody>
          <a:bodyPr>
            <a:normAutofit fontScale="92500" lnSpcReduction="10000"/>
          </a:bodyPr>
          <a:lstStyle/>
          <a:p>
            <a:r>
              <a:rPr lang="en-US" sz="5400" b="1" dirty="0">
                <a:solidFill>
                  <a:srgbClr val="FFC000"/>
                </a:solidFill>
                <a:latin typeface="Bahnschrift SemiBold Condensed" panose="020B0502040204020203" pitchFamily="34" charset="0"/>
              </a:rPr>
              <a:t>ASSET VERIFICATION PROCESS TRAINING</a:t>
            </a:r>
          </a:p>
          <a:p>
            <a:endParaRPr lang="en-US" sz="5400" b="1" dirty="0">
              <a:latin typeface="Bahnschrift SemiBold Condensed" panose="020B0502040204020203" pitchFamily="34" charset="0"/>
            </a:endParaRPr>
          </a:p>
          <a:p>
            <a:r>
              <a:rPr lang="en-US" sz="5400" b="1" dirty="0" smtClean="0">
                <a:latin typeface="Bahnschrift SemiBold Condensed" panose="020B0502040204020203" pitchFamily="34" charset="0"/>
              </a:rPr>
              <a:t>AUGUST </a:t>
            </a:r>
            <a:r>
              <a:rPr lang="en-US" sz="5400" b="1" dirty="0">
                <a:latin typeface="Bahnschrift SemiBold Condensed" panose="020B0502040204020203" pitchFamily="34" charset="0"/>
              </a:rPr>
              <a:t>2026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7635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45E9-FCA8-42D6-A0E6-52EF5A45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QUALITY ASSURANCE OF THE ASSIGNMENT</a:t>
            </a:r>
            <a:br>
              <a:rPr lang="en-US" b="1" dirty="0">
                <a:latin typeface="Arial Narrow" panose="020B0606020202030204" pitchFamily="34" charset="0"/>
              </a:rPr>
            </a:b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0D08-1BB0-4C20-805F-A3D05D5CB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9305"/>
            <a:ext cx="10515600" cy="3275045"/>
          </a:xfrm>
        </p:spPr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Definition of QA</a:t>
            </a:r>
          </a:p>
          <a:p>
            <a:r>
              <a:rPr lang="en-US" dirty="0">
                <a:latin typeface="Arial Narrow" panose="020B0606020202030204" pitchFamily="34" charset="0"/>
              </a:rPr>
              <a:t>QA Core Functions</a:t>
            </a:r>
          </a:p>
          <a:p>
            <a:r>
              <a:rPr lang="en-US" dirty="0">
                <a:latin typeface="Arial Narrow" panose="020B0606020202030204" pitchFamily="34" charset="0"/>
              </a:rPr>
              <a:t>QA Framework/Process for Control</a:t>
            </a:r>
          </a:p>
          <a:p>
            <a:r>
              <a:rPr lang="en-US" dirty="0">
                <a:latin typeface="Arial Narrow" panose="020B0606020202030204" pitchFamily="34" charset="0"/>
              </a:rPr>
              <a:t>Conclusion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6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2C43-92E3-441B-B505-497A5BF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8349"/>
            <a:ext cx="10515600" cy="1006475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DEFINITION OF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7D5A6-A4FE-4146-8442-35E52654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519"/>
            <a:ext cx="10515600" cy="356746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Arial Narrow" panose="020B0606020202030204" pitchFamily="34" charset="0"/>
              </a:rPr>
              <a:t>A</a:t>
            </a:r>
            <a:r>
              <a:rPr lang="en-US" dirty="0" smtClean="0">
                <a:latin typeface="Arial Narrow" panose="020B0606020202030204" pitchFamily="34" charset="0"/>
              </a:rPr>
              <a:t> process </a:t>
            </a:r>
            <a:r>
              <a:rPr lang="en-US" dirty="0">
                <a:latin typeface="Arial Narrow" panose="020B0606020202030204" pitchFamily="34" charset="0"/>
              </a:rPr>
              <a:t>of making </a:t>
            </a:r>
            <a:r>
              <a:rPr lang="en-US" dirty="0" smtClean="0">
                <a:latin typeface="Arial Narrow" panose="020B0606020202030204" pitchFamily="34" charset="0"/>
              </a:rPr>
              <a:t>sure that </a:t>
            </a:r>
            <a:r>
              <a:rPr lang="en-US" dirty="0">
                <a:latin typeface="Arial Narrow" panose="020B0606020202030204" pitchFamily="34" charset="0"/>
              </a:rPr>
              <a:t>a product or service consistently meets set standards and customer expectations </a:t>
            </a:r>
            <a:endParaRPr lang="en-US" dirty="0" smtClean="0">
              <a:latin typeface="Arial Narrow" panose="020B0606020202030204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 Narrow" panose="020B0606020202030204" pitchFamily="34" charset="0"/>
              </a:rPr>
              <a:t>A </a:t>
            </a:r>
            <a:r>
              <a:rPr lang="en-US" dirty="0">
                <a:latin typeface="Arial Narrow" panose="020B0606020202030204" pitchFamily="34" charset="0"/>
              </a:rPr>
              <a:t>set of principles for assignment execution and delivery of quality </a:t>
            </a:r>
            <a:r>
              <a:rPr lang="en-US" dirty="0" smtClean="0">
                <a:latin typeface="Arial Narrow" panose="020B0606020202030204" pitchFamily="34" charset="0"/>
              </a:rPr>
              <a:t>services/products </a:t>
            </a:r>
            <a:r>
              <a:rPr lang="en-US" dirty="0">
                <a:latin typeface="Arial Narrow" panose="020B0606020202030204" pitchFamily="34" charset="0"/>
              </a:rPr>
              <a:t>meant to increase client confidence and </a:t>
            </a:r>
            <a:r>
              <a:rPr lang="en-US" dirty="0" smtClean="0">
                <a:latin typeface="Arial Narrow" panose="020B0606020202030204" pitchFamily="34" charset="0"/>
              </a:rPr>
              <a:t>credibility. </a:t>
            </a: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35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2A66-1E96-44DA-A4A1-6E470CED7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QA FRAMEWORK/PROCESS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D4F98-17FE-469D-B043-4832B3F4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528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Supervision by the Central Technical Team: </a:t>
            </a:r>
          </a:p>
          <a:p>
            <a:pPr algn="just"/>
            <a:r>
              <a:rPr lang="en-US" b="1" dirty="0" smtClean="0"/>
              <a:t>Overall Team Leader </a:t>
            </a:r>
            <a:r>
              <a:rPr lang="en-US" dirty="0" smtClean="0"/>
              <a:t>–Review all deliverables and provide necessary guidance</a:t>
            </a:r>
          </a:p>
          <a:p>
            <a:pPr algn="just"/>
            <a:r>
              <a:rPr lang="en-US" b="1" dirty="0" smtClean="0"/>
              <a:t>Operations Coordinator </a:t>
            </a:r>
            <a:r>
              <a:rPr lang="en-US" dirty="0" smtClean="0"/>
              <a:t>–Review and quality assure all reports, provide administrative support and conduct spot checks.</a:t>
            </a:r>
          </a:p>
          <a:p>
            <a:pPr algn="just"/>
            <a:r>
              <a:rPr lang="en-US" b="1" dirty="0" smtClean="0"/>
              <a:t>Team Leader </a:t>
            </a:r>
            <a:r>
              <a:rPr lang="en-US" dirty="0" smtClean="0"/>
              <a:t>–Receive and review all field reports and conduct spot checks.</a:t>
            </a:r>
          </a:p>
          <a:p>
            <a:pPr algn="just"/>
            <a:r>
              <a:rPr lang="en-US" b="1" dirty="0" smtClean="0"/>
              <a:t>Regional Supervisors </a:t>
            </a:r>
            <a:r>
              <a:rPr lang="en-US" dirty="0" smtClean="0"/>
              <a:t>–Receive and review field reports from research assistant in the respective region/sub-region, conduct spot checks and provide necessary guidance. Submit draft reports to the Team leader</a:t>
            </a:r>
          </a:p>
          <a:p>
            <a:pPr algn="just"/>
            <a:r>
              <a:rPr lang="en-US" b="1" dirty="0" smtClean="0"/>
              <a:t>Research Assistants </a:t>
            </a:r>
            <a:r>
              <a:rPr lang="en-US" dirty="0" smtClean="0"/>
              <a:t>–Follow instructions and review days work and timely submission.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0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CD5C-C8A8-4D4F-B2E3-04C36249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FRAMEWORK –Cont’d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98C0A-03D8-497B-AA9B-2C3F42C20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Arial Narrow" panose="020B0606020202030204" pitchFamily="34" charset="0"/>
              </a:rPr>
              <a:t>Regional Team Leaders Supervision: </a:t>
            </a:r>
            <a:r>
              <a:rPr lang="en-US" dirty="0" smtClean="0">
                <a:latin typeface="Arial Narrow" panose="020B0606020202030204" pitchFamily="34" charset="0"/>
              </a:rPr>
              <a:t> 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Data collected is inline with the set protocol (register requirements)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Daily checks to the teams under their jurisdiction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Correction of mistakes while the team is in the field.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Each researcher submits daily log of activities in terms of LGs covered and the assets verified.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All inappropriately filled registers/ incomplete entries will be clarified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Respective team member make follow-ups for completion</a:t>
            </a:r>
          </a:p>
        </p:txBody>
      </p:sp>
    </p:spTree>
    <p:extLst>
      <p:ext uri="{BB962C8B-B14F-4D97-AF65-F5344CB8AC3E}">
        <p14:creationId xmlns:p14="http://schemas.microsoft.com/office/powerpoint/2010/main" val="398090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The Success of the Verification Exercise will depend on, among other things, the Quality Control and Assurance Process and the Team for the Assignment.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2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10873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Arial Narrow" panose="020B0606020202030204" pitchFamily="34" charset="0"/>
              </a:rPr>
              <a:t>THANK YOU VERY MUCH</a:t>
            </a:r>
          </a:p>
        </p:txBody>
      </p:sp>
    </p:spTree>
    <p:extLst>
      <p:ext uri="{BB962C8B-B14F-4D97-AF65-F5344CB8AC3E}">
        <p14:creationId xmlns:p14="http://schemas.microsoft.com/office/powerpoint/2010/main" val="352345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264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Narrow</vt:lpstr>
      <vt:lpstr>Bahnschrift SemiBold Condensed</vt:lpstr>
      <vt:lpstr>Calibri</vt:lpstr>
      <vt:lpstr>Calibri Light</vt:lpstr>
      <vt:lpstr>Wingdings</vt:lpstr>
      <vt:lpstr>Office Theme</vt:lpstr>
      <vt:lpstr> Uganda Intergovernmental Fiscal Transfers Program (UGIFT)</vt:lpstr>
      <vt:lpstr>QUALITY ASSURANCE OF THE ASSIGNMENT </vt:lpstr>
      <vt:lpstr>DEFINITION OF QUALITY ASSURANCE</vt:lpstr>
      <vt:lpstr>QA FRAMEWORK/PROCESS</vt:lpstr>
      <vt:lpstr>FRAMEWORK –Cont’d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Rashid Kiwanuka</dc:creator>
  <cp:lastModifiedBy>sulainah</cp:lastModifiedBy>
  <cp:revision>22</cp:revision>
  <dcterms:created xsi:type="dcterms:W3CDTF">2026-06-22T09:02:27Z</dcterms:created>
  <dcterms:modified xsi:type="dcterms:W3CDTF">2026-08-19T11:58:31Z</dcterms:modified>
</cp:coreProperties>
</file>