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5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09424-5B62-4EEF-98C4-7A6CABD8EFE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4823E9-0474-4FFF-89BB-1E502DC66172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pPr algn="just"/>
          <a:r>
            <a:rPr lang="en-US" b="1" dirty="0">
              <a:latin typeface="Arial Narrow" panose="020B0606020202030204" pitchFamily="34" charset="0"/>
            </a:rPr>
            <a:t>Informed Consent/ Communication</a:t>
          </a:r>
          <a:endParaRPr lang="en-US" dirty="0">
            <a:latin typeface="Arial Narrow" panose="020B0606020202030204" pitchFamily="34" charset="0"/>
          </a:endParaRPr>
        </a:p>
        <a:p>
          <a:pPr algn="just"/>
          <a:r>
            <a:rPr lang="en-US" dirty="0">
              <a:latin typeface="Arial Narrow" panose="020B0606020202030204" pitchFamily="34" charset="0"/>
            </a:rPr>
            <a:t>Communicate the purpose of the exercise to the relevant stakeholders. This will help the team organize and prepare for the exercise reducing unnecessary delays and missed appointments</a:t>
          </a:r>
        </a:p>
      </dgm:t>
    </dgm:pt>
    <dgm:pt modelId="{2D7BB5D2-8FEE-4CDD-90E3-B8FB46B064A7}" type="parTrans" cxnId="{CAD19115-0021-4868-B3D6-E0DCFF9F1AB3}">
      <dgm:prSet/>
      <dgm:spPr/>
      <dgm:t>
        <a:bodyPr/>
        <a:lstStyle/>
        <a:p>
          <a:endParaRPr lang="en-US"/>
        </a:p>
      </dgm:t>
    </dgm:pt>
    <dgm:pt modelId="{C0FBF771-0B77-46F0-9541-A1B9FA95604B}" type="sibTrans" cxnId="{CAD19115-0021-4868-B3D6-E0DCFF9F1AB3}">
      <dgm:prSet/>
      <dgm:spPr/>
      <dgm:t>
        <a:bodyPr/>
        <a:lstStyle/>
        <a:p>
          <a:endParaRPr lang="en-US"/>
        </a:p>
      </dgm:t>
    </dgm:pt>
    <dgm:pt modelId="{3ADF5B81-DCC4-4D9B-B214-F7C0410D8C02}">
      <dgm:prSet phldrT="[Text]" custT="1"/>
      <dgm:spPr/>
      <dgm:t>
        <a:bodyPr/>
        <a:lstStyle/>
        <a:p>
          <a:pPr algn="just"/>
          <a:r>
            <a:rPr lang="en-US" sz="2000" b="1" dirty="0">
              <a:latin typeface="Arial Narrow" panose="020B0606020202030204" pitchFamily="34" charset="0"/>
            </a:rPr>
            <a:t>Confidentiality and Privacy: </a:t>
          </a:r>
          <a:endParaRPr lang="en-US" sz="2000" b="1" dirty="0" smtClean="0">
            <a:latin typeface="Arial Narrow" panose="020B0606020202030204" pitchFamily="34" charset="0"/>
          </a:endParaRPr>
        </a:p>
        <a:p>
          <a:pPr algn="just"/>
          <a:r>
            <a:rPr lang="en-US" sz="2000" dirty="0" smtClean="0">
              <a:latin typeface="Arial Narrow" panose="020B0606020202030204" pitchFamily="34" charset="0"/>
            </a:rPr>
            <a:t>As </a:t>
          </a:r>
          <a:r>
            <a:rPr lang="en-US" sz="2000" dirty="0">
              <a:latin typeface="Arial Narrow" panose="020B0606020202030204" pitchFamily="34" charset="0"/>
            </a:rPr>
            <a:t>researcher, you must protect the identities of </a:t>
          </a:r>
          <a:r>
            <a:rPr lang="en-US" sz="2000" dirty="0" smtClean="0">
              <a:latin typeface="Arial Narrow" panose="020B0606020202030204" pitchFamily="34" charset="0"/>
            </a:rPr>
            <a:t>participants and the data/information</a:t>
          </a:r>
          <a:endParaRPr lang="en-US" sz="2000" dirty="0"/>
        </a:p>
      </dgm:t>
    </dgm:pt>
    <dgm:pt modelId="{FD62E6E9-9A08-49A0-9C37-A34A77D7994F}" type="parTrans" cxnId="{A51CE8EE-E5DE-42CF-A4AF-9EF6794B3244}">
      <dgm:prSet/>
      <dgm:spPr/>
      <dgm:t>
        <a:bodyPr/>
        <a:lstStyle/>
        <a:p>
          <a:endParaRPr lang="en-US"/>
        </a:p>
      </dgm:t>
    </dgm:pt>
    <dgm:pt modelId="{40783888-768D-4C4C-9224-CFF8AA32AED0}" type="sibTrans" cxnId="{A51CE8EE-E5DE-42CF-A4AF-9EF6794B3244}">
      <dgm:prSet/>
      <dgm:spPr/>
      <dgm:t>
        <a:bodyPr/>
        <a:lstStyle/>
        <a:p>
          <a:endParaRPr lang="en-US"/>
        </a:p>
      </dgm:t>
    </dgm:pt>
    <dgm:pt modelId="{4422E034-B6AF-4206-A2D4-DC27CDAD937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just">
            <a:lnSpc>
              <a:spcPct val="100000"/>
            </a:lnSpc>
            <a:spcAft>
              <a:spcPts val="0"/>
            </a:spcAft>
          </a:pPr>
          <a:r>
            <a:rPr lang="en-US" sz="1800" b="1" dirty="0">
              <a:latin typeface="Arial Narrow" panose="020B0606020202030204" pitchFamily="34" charset="0"/>
            </a:rPr>
            <a:t>Integrity and Objectivity</a:t>
          </a:r>
          <a:endParaRPr lang="en-US" sz="1800" dirty="0">
            <a:latin typeface="Arial Narrow" panose="020B0606020202030204" pitchFamily="34" charset="0"/>
          </a:endParaRPr>
        </a:p>
        <a:p>
          <a:pPr algn="just">
            <a:lnSpc>
              <a:spcPct val="100000"/>
            </a:lnSpc>
            <a:spcAft>
              <a:spcPts val="0"/>
            </a:spcAft>
          </a:pPr>
          <a:r>
            <a:rPr lang="en-US" sz="1800" dirty="0">
              <a:latin typeface="Arial Narrow" panose="020B0606020202030204" pitchFamily="34" charset="0"/>
            </a:rPr>
            <a:t>Maintain strict honesty throughout the verification process. Reporting results truthfully without fabricating or manipulating </a:t>
          </a:r>
          <a:r>
            <a:rPr lang="en-US" sz="1800" dirty="0" smtClean="0">
              <a:latin typeface="Arial Narrow" panose="020B0606020202030204" pitchFamily="34" charset="0"/>
            </a:rPr>
            <a:t>data.</a:t>
          </a:r>
          <a:endParaRPr lang="en-US" sz="1800" dirty="0">
            <a:latin typeface="Arial Narrow" panose="020B0606020202030204" pitchFamily="34" charset="0"/>
          </a:endParaRPr>
        </a:p>
      </dgm:t>
    </dgm:pt>
    <dgm:pt modelId="{8E755525-D40F-4EB2-9A08-C3EE1A91EAAF}" type="parTrans" cxnId="{1E1C175A-DBDF-41FB-A519-5F097A50C045}">
      <dgm:prSet/>
      <dgm:spPr/>
      <dgm:t>
        <a:bodyPr/>
        <a:lstStyle/>
        <a:p>
          <a:endParaRPr lang="en-US"/>
        </a:p>
      </dgm:t>
    </dgm:pt>
    <dgm:pt modelId="{988C0A0F-B994-4590-B687-B84C427AC1EE}" type="sibTrans" cxnId="{1E1C175A-DBDF-41FB-A519-5F097A50C045}">
      <dgm:prSet/>
      <dgm:spPr/>
      <dgm:t>
        <a:bodyPr/>
        <a:lstStyle/>
        <a:p>
          <a:endParaRPr lang="en-US"/>
        </a:p>
      </dgm:t>
    </dgm:pt>
    <dgm:pt modelId="{A183F07F-7F93-4136-9253-6DD650219843}" type="pres">
      <dgm:prSet presAssocID="{20609424-5B62-4EEF-98C4-7A6CABD8EFE0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87387EC8-CDD4-46B9-9889-FBE9A0BC91B3}" type="pres">
      <dgm:prSet presAssocID="{20609424-5B62-4EEF-98C4-7A6CABD8EFE0}" presName="Name1" presStyleCnt="0"/>
      <dgm:spPr/>
    </dgm:pt>
    <dgm:pt modelId="{F0534B84-7212-4CA6-89DC-CECF7E307F64}" type="pres">
      <dgm:prSet presAssocID="{20609424-5B62-4EEF-98C4-7A6CABD8EFE0}" presName="cycle" presStyleCnt="0"/>
      <dgm:spPr/>
    </dgm:pt>
    <dgm:pt modelId="{67C53D6F-1098-42AE-8B7E-83936FAE87BF}" type="pres">
      <dgm:prSet presAssocID="{20609424-5B62-4EEF-98C4-7A6CABD8EFE0}" presName="srcNode" presStyleLbl="node1" presStyleIdx="0" presStyleCnt="3"/>
      <dgm:spPr/>
    </dgm:pt>
    <dgm:pt modelId="{970BEC94-D514-4A8C-83A1-D3EB10222190}" type="pres">
      <dgm:prSet presAssocID="{20609424-5B62-4EEF-98C4-7A6CABD8EFE0}" presName="conn" presStyleLbl="parChTrans1D2" presStyleIdx="0" presStyleCnt="1"/>
      <dgm:spPr/>
      <dgm:t>
        <a:bodyPr/>
        <a:lstStyle/>
        <a:p>
          <a:endParaRPr lang="en-US"/>
        </a:p>
      </dgm:t>
    </dgm:pt>
    <dgm:pt modelId="{EE306D51-B515-4CBD-9039-7651786272AC}" type="pres">
      <dgm:prSet presAssocID="{20609424-5B62-4EEF-98C4-7A6CABD8EFE0}" presName="extraNode" presStyleLbl="node1" presStyleIdx="0" presStyleCnt="3"/>
      <dgm:spPr/>
    </dgm:pt>
    <dgm:pt modelId="{763AB8AB-23DA-4573-AACC-3DF0662625D0}" type="pres">
      <dgm:prSet presAssocID="{20609424-5B62-4EEF-98C4-7A6CABD8EFE0}" presName="dstNode" presStyleLbl="node1" presStyleIdx="0" presStyleCnt="3"/>
      <dgm:spPr/>
    </dgm:pt>
    <dgm:pt modelId="{B7F967CF-7921-4C2C-9E54-63C9981B1D39}" type="pres">
      <dgm:prSet presAssocID="{2B4823E9-0474-4FFF-89BB-1E502DC66172}" presName="text_1" presStyleLbl="node1" presStyleIdx="0" presStyleCnt="3" custScaleX="83895" custScaleY="130953" custLinFactNeighborX="1708" custLinFactNeighborY="-31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158A2D-EC1C-4D58-8FFF-7FE325AF2C93}" type="pres">
      <dgm:prSet presAssocID="{2B4823E9-0474-4FFF-89BB-1E502DC66172}" presName="accent_1" presStyleCnt="0"/>
      <dgm:spPr/>
    </dgm:pt>
    <dgm:pt modelId="{A92E9390-E88E-4A69-A808-5D13AA427C36}" type="pres">
      <dgm:prSet presAssocID="{2B4823E9-0474-4FFF-89BB-1E502DC66172}" presName="accentRepeatNode" presStyleLbl="solidFgAcc1" presStyleIdx="0" presStyleCnt="3" custScaleX="182509"/>
      <dgm:spPr>
        <a:blipFill rotWithShape="0">
          <a:blip xmlns:r="http://schemas.openxmlformats.org/officeDocument/2006/relationships" r:embed="rId1" cstate="email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9000" r="-39000"/>
          </a:stretch>
        </a:blipFill>
      </dgm:spPr>
    </dgm:pt>
    <dgm:pt modelId="{CDEFE9B9-C768-4EFE-A840-535A9DF5089B}" type="pres">
      <dgm:prSet presAssocID="{3ADF5B81-DCC4-4D9B-B214-F7C0410D8C02}" presName="text_2" presStyleLbl="node1" presStyleIdx="1" presStyleCnt="3" custScaleX="83599" custLinFactNeighborX="-2451" custLinFactNeighborY="-75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E07219-7607-48FA-A1C0-F3EE6A6FF0B1}" type="pres">
      <dgm:prSet presAssocID="{3ADF5B81-DCC4-4D9B-B214-F7C0410D8C02}" presName="accent_2" presStyleCnt="0"/>
      <dgm:spPr/>
    </dgm:pt>
    <dgm:pt modelId="{B6E4D04B-8E15-47FA-A028-2E715F94FAAD}" type="pres">
      <dgm:prSet presAssocID="{3ADF5B81-DCC4-4D9B-B214-F7C0410D8C02}" presName="accentRepeatNode" presStyleLbl="solidFgAcc1" presStyleIdx="1" presStyleCnt="3"/>
      <dgm:spPr>
        <a:blipFill rotWithShape="0">
          <a:blip xmlns:r="http://schemas.openxmlformats.org/officeDocument/2006/relationships"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7000" r="-17000"/>
          </a:stretch>
        </a:blipFill>
      </dgm:spPr>
    </dgm:pt>
    <dgm:pt modelId="{260823EB-AAB5-4293-BBFD-2118C09452AC}" type="pres">
      <dgm:prSet presAssocID="{4422E034-B6AF-4206-A2D4-DC27CDAD9375}" presName="text_3" presStyleLbl="node1" presStyleIdx="2" presStyleCnt="3" custScaleX="86119" custScaleY="1752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0B264C-E80D-433D-B3F1-7927779DEBE3}" type="pres">
      <dgm:prSet presAssocID="{4422E034-B6AF-4206-A2D4-DC27CDAD9375}" presName="accent_3" presStyleCnt="0"/>
      <dgm:spPr/>
    </dgm:pt>
    <dgm:pt modelId="{1244A0AF-E57F-40EA-977B-A5ABF6A203A3}" type="pres">
      <dgm:prSet presAssocID="{4422E034-B6AF-4206-A2D4-DC27CDAD9375}" presName="accentRepeatNode" presStyleLbl="solidFgAcc1" presStyleIdx="2" presStyleCnt="3" custScaleX="125111" custScaleY="129575"/>
      <dgm:spPr>
        <a:blipFill rotWithShape="0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</dgm:ptLst>
  <dgm:cxnLst>
    <dgm:cxn modelId="{1E1C175A-DBDF-41FB-A519-5F097A50C045}" srcId="{20609424-5B62-4EEF-98C4-7A6CABD8EFE0}" destId="{4422E034-B6AF-4206-A2D4-DC27CDAD9375}" srcOrd="2" destOrd="0" parTransId="{8E755525-D40F-4EB2-9A08-C3EE1A91EAAF}" sibTransId="{988C0A0F-B994-4590-B687-B84C427AC1EE}"/>
    <dgm:cxn modelId="{DDE777E2-4AB3-4095-9E20-54AA784C702F}" type="presOf" srcId="{4422E034-B6AF-4206-A2D4-DC27CDAD9375}" destId="{260823EB-AAB5-4293-BBFD-2118C09452AC}" srcOrd="0" destOrd="0" presId="urn:microsoft.com/office/officeart/2008/layout/VerticalCurvedList"/>
    <dgm:cxn modelId="{23F602FC-2A14-41F3-A23E-A48CD8B68661}" type="presOf" srcId="{2B4823E9-0474-4FFF-89BB-1E502DC66172}" destId="{B7F967CF-7921-4C2C-9E54-63C9981B1D39}" srcOrd="0" destOrd="0" presId="urn:microsoft.com/office/officeart/2008/layout/VerticalCurvedList"/>
    <dgm:cxn modelId="{3D269BBD-C2E9-4365-9893-8293BD670805}" type="presOf" srcId="{20609424-5B62-4EEF-98C4-7A6CABD8EFE0}" destId="{A183F07F-7F93-4136-9253-6DD650219843}" srcOrd="0" destOrd="0" presId="urn:microsoft.com/office/officeart/2008/layout/VerticalCurvedList"/>
    <dgm:cxn modelId="{CAD19115-0021-4868-B3D6-E0DCFF9F1AB3}" srcId="{20609424-5B62-4EEF-98C4-7A6CABD8EFE0}" destId="{2B4823E9-0474-4FFF-89BB-1E502DC66172}" srcOrd="0" destOrd="0" parTransId="{2D7BB5D2-8FEE-4CDD-90E3-B8FB46B064A7}" sibTransId="{C0FBF771-0B77-46F0-9541-A1B9FA95604B}"/>
    <dgm:cxn modelId="{A51CE8EE-E5DE-42CF-A4AF-9EF6794B3244}" srcId="{20609424-5B62-4EEF-98C4-7A6CABD8EFE0}" destId="{3ADF5B81-DCC4-4D9B-B214-F7C0410D8C02}" srcOrd="1" destOrd="0" parTransId="{FD62E6E9-9A08-49A0-9C37-A34A77D7994F}" sibTransId="{40783888-768D-4C4C-9224-CFF8AA32AED0}"/>
    <dgm:cxn modelId="{25A31CF5-FB9A-4420-A237-F7736CCA2F50}" type="presOf" srcId="{C0FBF771-0B77-46F0-9541-A1B9FA95604B}" destId="{970BEC94-D514-4A8C-83A1-D3EB10222190}" srcOrd="0" destOrd="0" presId="urn:microsoft.com/office/officeart/2008/layout/VerticalCurvedList"/>
    <dgm:cxn modelId="{6451B3B3-ED0A-415F-B20F-DCBAF1DD1F00}" type="presOf" srcId="{3ADF5B81-DCC4-4D9B-B214-F7C0410D8C02}" destId="{CDEFE9B9-C768-4EFE-A840-535A9DF5089B}" srcOrd="0" destOrd="0" presId="urn:microsoft.com/office/officeart/2008/layout/VerticalCurvedList"/>
    <dgm:cxn modelId="{250749CD-D971-4872-8802-2C6560490F44}" type="presParOf" srcId="{A183F07F-7F93-4136-9253-6DD650219843}" destId="{87387EC8-CDD4-46B9-9889-FBE9A0BC91B3}" srcOrd="0" destOrd="0" presId="urn:microsoft.com/office/officeart/2008/layout/VerticalCurvedList"/>
    <dgm:cxn modelId="{C0C444FE-149A-4D69-A41D-68680BB48F0F}" type="presParOf" srcId="{87387EC8-CDD4-46B9-9889-FBE9A0BC91B3}" destId="{F0534B84-7212-4CA6-89DC-CECF7E307F64}" srcOrd="0" destOrd="0" presId="urn:microsoft.com/office/officeart/2008/layout/VerticalCurvedList"/>
    <dgm:cxn modelId="{F55BED8F-75AD-403C-8E7E-1E3788411526}" type="presParOf" srcId="{F0534B84-7212-4CA6-89DC-CECF7E307F64}" destId="{67C53D6F-1098-42AE-8B7E-83936FAE87BF}" srcOrd="0" destOrd="0" presId="urn:microsoft.com/office/officeart/2008/layout/VerticalCurvedList"/>
    <dgm:cxn modelId="{AB185A5C-0CDF-4D30-A874-DE9AE6842C69}" type="presParOf" srcId="{F0534B84-7212-4CA6-89DC-CECF7E307F64}" destId="{970BEC94-D514-4A8C-83A1-D3EB10222190}" srcOrd="1" destOrd="0" presId="urn:microsoft.com/office/officeart/2008/layout/VerticalCurvedList"/>
    <dgm:cxn modelId="{6E97F9E8-C566-4FE3-8E1B-7086800D55D6}" type="presParOf" srcId="{F0534B84-7212-4CA6-89DC-CECF7E307F64}" destId="{EE306D51-B515-4CBD-9039-7651786272AC}" srcOrd="2" destOrd="0" presId="urn:microsoft.com/office/officeart/2008/layout/VerticalCurvedList"/>
    <dgm:cxn modelId="{8E0DECB1-CAF9-4D3D-B069-CBA22A96F1FB}" type="presParOf" srcId="{F0534B84-7212-4CA6-89DC-CECF7E307F64}" destId="{763AB8AB-23DA-4573-AACC-3DF0662625D0}" srcOrd="3" destOrd="0" presId="urn:microsoft.com/office/officeart/2008/layout/VerticalCurvedList"/>
    <dgm:cxn modelId="{A60E082A-57AE-45E9-A82E-CD5CB77429BB}" type="presParOf" srcId="{87387EC8-CDD4-46B9-9889-FBE9A0BC91B3}" destId="{B7F967CF-7921-4C2C-9E54-63C9981B1D39}" srcOrd="1" destOrd="0" presId="urn:microsoft.com/office/officeart/2008/layout/VerticalCurvedList"/>
    <dgm:cxn modelId="{9F7F9B00-642B-47A3-8AFA-FB851E46FA9D}" type="presParOf" srcId="{87387EC8-CDD4-46B9-9889-FBE9A0BC91B3}" destId="{3E158A2D-EC1C-4D58-8FFF-7FE325AF2C93}" srcOrd="2" destOrd="0" presId="urn:microsoft.com/office/officeart/2008/layout/VerticalCurvedList"/>
    <dgm:cxn modelId="{2E30BF9B-D0E7-4E64-B3E8-0F0D2C58F5E8}" type="presParOf" srcId="{3E158A2D-EC1C-4D58-8FFF-7FE325AF2C93}" destId="{A92E9390-E88E-4A69-A808-5D13AA427C36}" srcOrd="0" destOrd="0" presId="urn:microsoft.com/office/officeart/2008/layout/VerticalCurvedList"/>
    <dgm:cxn modelId="{84B977A6-3F9B-445C-973B-0773670660DC}" type="presParOf" srcId="{87387EC8-CDD4-46B9-9889-FBE9A0BC91B3}" destId="{CDEFE9B9-C768-4EFE-A840-535A9DF5089B}" srcOrd="3" destOrd="0" presId="urn:microsoft.com/office/officeart/2008/layout/VerticalCurvedList"/>
    <dgm:cxn modelId="{31BC6D60-156B-4B13-AD43-433D4D659048}" type="presParOf" srcId="{87387EC8-CDD4-46B9-9889-FBE9A0BC91B3}" destId="{36E07219-7607-48FA-A1C0-F3EE6A6FF0B1}" srcOrd="4" destOrd="0" presId="urn:microsoft.com/office/officeart/2008/layout/VerticalCurvedList"/>
    <dgm:cxn modelId="{2A9E07E3-171D-4159-8441-78537BBADE7B}" type="presParOf" srcId="{36E07219-7607-48FA-A1C0-F3EE6A6FF0B1}" destId="{B6E4D04B-8E15-47FA-A028-2E715F94FAAD}" srcOrd="0" destOrd="0" presId="urn:microsoft.com/office/officeart/2008/layout/VerticalCurvedList"/>
    <dgm:cxn modelId="{A3BBDD27-9668-4DB3-866F-F4638E1689B8}" type="presParOf" srcId="{87387EC8-CDD4-46B9-9889-FBE9A0BC91B3}" destId="{260823EB-AAB5-4293-BBFD-2118C09452AC}" srcOrd="5" destOrd="0" presId="urn:microsoft.com/office/officeart/2008/layout/VerticalCurvedList"/>
    <dgm:cxn modelId="{1DB390A1-4D24-4084-8E81-C94BF876EEA4}" type="presParOf" srcId="{87387EC8-CDD4-46B9-9889-FBE9A0BC91B3}" destId="{E50B264C-E80D-433D-B3F1-7927779DEBE3}" srcOrd="6" destOrd="0" presId="urn:microsoft.com/office/officeart/2008/layout/VerticalCurvedList"/>
    <dgm:cxn modelId="{281619A1-18CB-4747-A33C-551BB20E007D}" type="presParOf" srcId="{E50B264C-E80D-433D-B3F1-7927779DEBE3}" destId="{1244A0AF-E57F-40EA-977B-A5ABF6A203A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BEC94-D514-4A8C-83A1-D3EB10222190}">
      <dsp:nvSpPr>
        <dsp:cNvPr id="0" name=""/>
        <dsp:cNvSpPr/>
      </dsp:nvSpPr>
      <dsp:spPr>
        <a:xfrm>
          <a:off x="-5097143" y="-873841"/>
          <a:ext cx="6796759" cy="6796759"/>
        </a:xfrm>
        <a:prstGeom prst="blockArc">
          <a:avLst>
            <a:gd name="adj1" fmla="val 18900000"/>
            <a:gd name="adj2" fmla="val 2700000"/>
            <a:gd name="adj3" fmla="val 31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967CF-7921-4C2C-9E54-63C9981B1D39}">
      <dsp:nvSpPr>
        <dsp:cNvPr id="0" name=""/>
        <dsp:cNvSpPr/>
      </dsp:nvSpPr>
      <dsp:spPr>
        <a:xfrm>
          <a:off x="2296560" y="316683"/>
          <a:ext cx="8467505" cy="132238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541" tIns="53340" rIns="53340" bIns="53340" numCol="1" spcCol="1270" anchor="ctr" anchorCtr="0">
          <a:noAutofit/>
        </a:bodyPr>
        <a:lstStyle/>
        <a:p>
          <a:pPr lvl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>
              <a:latin typeface="Arial Narrow" panose="020B0606020202030204" pitchFamily="34" charset="0"/>
            </a:rPr>
            <a:t>Informed Consent/ Communication</a:t>
          </a:r>
          <a:endParaRPr lang="en-US" sz="2100" kern="1200" dirty="0">
            <a:latin typeface="Arial Narrow" panose="020B0606020202030204" pitchFamily="34" charset="0"/>
          </a:endParaRPr>
        </a:p>
        <a:p>
          <a:pPr lvl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latin typeface="Arial Narrow" panose="020B0606020202030204" pitchFamily="34" charset="0"/>
            </a:rPr>
            <a:t>Communicate the purpose of the exercise to the relevant stakeholders. This will help the team organize and prepare for the exercise reducing unnecessary delays and missed appointments</a:t>
          </a:r>
        </a:p>
      </dsp:txBody>
      <dsp:txXfrm>
        <a:off x="2296560" y="316683"/>
        <a:ext cx="8467505" cy="1322383"/>
      </dsp:txXfrm>
    </dsp:sp>
    <dsp:sp modelId="{A92E9390-E88E-4A69-A808-5D13AA427C36}">
      <dsp:nvSpPr>
        <dsp:cNvPr id="0" name=""/>
        <dsp:cNvSpPr/>
      </dsp:nvSpPr>
      <dsp:spPr>
        <a:xfrm>
          <a:off x="159557" y="378680"/>
          <a:ext cx="2303754" cy="1262269"/>
        </a:xfrm>
        <a:prstGeom prst="ellipse">
          <a:avLst/>
        </a:prstGeom>
        <a:blipFill rotWithShape="0">
          <a:blip xmlns:r="http://schemas.openxmlformats.org/officeDocument/2006/relationships" r:embed="rId1" cstate="email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FE9B9-C768-4EFE-A840-535A9DF5089B}">
      <dsp:nvSpPr>
        <dsp:cNvPr id="0" name=""/>
        <dsp:cNvSpPr/>
      </dsp:nvSpPr>
      <dsp:spPr>
        <a:xfrm>
          <a:off x="2237694" y="1943894"/>
          <a:ext cx="8130765" cy="10098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541" tIns="50800" rIns="50800" bIns="5080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Arial Narrow" panose="020B0606020202030204" pitchFamily="34" charset="0"/>
            </a:rPr>
            <a:t>Confidentiality and Privacy: </a:t>
          </a:r>
          <a:endParaRPr lang="en-US" sz="2000" b="1" kern="1200" dirty="0" smtClean="0">
            <a:latin typeface="Arial Narrow" panose="020B0606020202030204" pitchFamily="34" charset="0"/>
          </a:endParaRP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 Narrow" panose="020B0606020202030204" pitchFamily="34" charset="0"/>
            </a:rPr>
            <a:t>As </a:t>
          </a:r>
          <a:r>
            <a:rPr lang="en-US" sz="2000" kern="1200" dirty="0">
              <a:latin typeface="Arial Narrow" panose="020B0606020202030204" pitchFamily="34" charset="0"/>
            </a:rPr>
            <a:t>researcher, you must protect the identities of </a:t>
          </a:r>
          <a:r>
            <a:rPr lang="en-US" sz="2000" kern="1200" dirty="0" smtClean="0">
              <a:latin typeface="Arial Narrow" panose="020B0606020202030204" pitchFamily="34" charset="0"/>
            </a:rPr>
            <a:t>participants and the data/information</a:t>
          </a:r>
          <a:endParaRPr lang="en-US" sz="2000" kern="1200" dirty="0"/>
        </a:p>
      </dsp:txBody>
      <dsp:txXfrm>
        <a:off x="2237694" y="1943894"/>
        <a:ext cx="8130765" cy="1009815"/>
      </dsp:txXfrm>
    </dsp:sp>
    <dsp:sp modelId="{B6E4D04B-8E15-47FA-A028-2E715F94FAAD}">
      <dsp:nvSpPr>
        <dsp:cNvPr id="0" name=""/>
        <dsp:cNvSpPr/>
      </dsp:nvSpPr>
      <dsp:spPr>
        <a:xfrm>
          <a:off x="1047368" y="1893403"/>
          <a:ext cx="1262269" cy="1262269"/>
        </a:xfrm>
        <a:prstGeom prst="ellipse">
          <a:avLst/>
        </a:prstGeom>
        <a:blipFill rotWithShape="0">
          <a:blip xmlns:r="http://schemas.openxmlformats.org/officeDocument/2006/relationships"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823EB-AAB5-4293-BBFD-2118C09452AC}">
      <dsp:nvSpPr>
        <dsp:cNvPr id="0" name=""/>
        <dsp:cNvSpPr/>
      </dsp:nvSpPr>
      <dsp:spPr>
        <a:xfrm>
          <a:off x="2011938" y="3154557"/>
          <a:ext cx="8691973" cy="1769408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541" tIns="45720" rIns="45720" bIns="45720" numCol="1" spcCol="1270" anchor="ctr" anchorCtr="0">
          <a:noAutofit/>
        </a:bodyPr>
        <a:lstStyle/>
        <a:p>
          <a:pPr lvl="0" algn="just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800" b="1" kern="1200" dirty="0">
              <a:latin typeface="Arial Narrow" panose="020B0606020202030204" pitchFamily="34" charset="0"/>
            </a:rPr>
            <a:t>Integrity and Objectivity</a:t>
          </a:r>
          <a:endParaRPr lang="en-US" sz="1800" kern="1200" dirty="0">
            <a:latin typeface="Arial Narrow" panose="020B0606020202030204" pitchFamily="34" charset="0"/>
          </a:endParaRPr>
        </a:p>
        <a:p>
          <a:pPr lvl="0" algn="just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800" kern="1200" dirty="0">
              <a:latin typeface="Arial Narrow" panose="020B0606020202030204" pitchFamily="34" charset="0"/>
            </a:rPr>
            <a:t>Maintain strict honesty throughout the verification process. Reporting results truthfully without fabricating or manipulating </a:t>
          </a:r>
          <a:r>
            <a:rPr lang="en-US" sz="1800" kern="1200" dirty="0" smtClean="0">
              <a:latin typeface="Arial Narrow" panose="020B0606020202030204" pitchFamily="34" charset="0"/>
            </a:rPr>
            <a:t>data.</a:t>
          </a:r>
          <a:endParaRPr lang="en-US" sz="1800" kern="1200" dirty="0">
            <a:latin typeface="Arial Narrow" panose="020B0606020202030204" pitchFamily="34" charset="0"/>
          </a:endParaRPr>
        </a:p>
      </dsp:txBody>
      <dsp:txXfrm>
        <a:off x="2011938" y="3154557"/>
        <a:ext cx="8691973" cy="1769408"/>
      </dsp:txXfrm>
    </dsp:sp>
    <dsp:sp modelId="{1244A0AF-E57F-40EA-977B-A5ABF6A203A3}">
      <dsp:nvSpPr>
        <dsp:cNvPr id="0" name=""/>
        <dsp:cNvSpPr/>
      </dsp:nvSpPr>
      <dsp:spPr>
        <a:xfrm>
          <a:off x="521816" y="3221468"/>
          <a:ext cx="1579237" cy="1635585"/>
        </a:xfrm>
        <a:prstGeom prst="ellipse">
          <a:avLst/>
        </a:prstGeom>
        <a:blipFill rotWithShape="0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787E-9F89-433F-B849-34A9D7BA0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AD17F-9ED8-4F42-A660-697D727D1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8575D-3FDF-4BA5-BFA2-A4393621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A03B8-9409-4A01-988F-E614F696311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5892800"/>
            <a:ext cx="2835564" cy="96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E1D84-43EF-4B90-88A0-BC0FBE813D5E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764" y="5735638"/>
            <a:ext cx="3057236" cy="11223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869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C323-AE57-41A5-8B40-4ABB6B6C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581E-7E4C-4D6B-A5A6-98BFA34C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5C23-19B7-421F-8E67-9E6CC750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4">
                    <a:lumMod val="20000"/>
                    <a:lumOff val="8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@2026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C4973-0622-46B4-B47F-B9D05A0D29A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6311900"/>
            <a:ext cx="2835564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C16EF-15F7-4CEE-A9AF-FC21ADEAA438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090" y="6176962"/>
            <a:ext cx="3278910" cy="6810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586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7D84-C754-42A1-8C39-9D7844DF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DA43A-198A-445B-B314-371EC9CE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AD1E-2EB4-464B-9905-6D580650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60D5-93CE-4D48-8CA5-370C0B3F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5E31B-262D-4965-B099-CF8372ED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EEC5-1AD9-4341-BA5C-EDEF21F1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787A-38DA-4904-A21F-41FEC06BA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315D-8CED-4196-8FD1-189B59197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D26EE-7714-4FFE-9393-080A51B2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5B00C-FAC6-40F0-B24B-39A00DF1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2C115-CFA3-4CD8-A008-7702EA91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B6A8-F7D5-4735-99F4-5750BC85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BA9B-D220-4599-8529-6FBBC967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D7463-4EEE-45F0-8BD8-50B76634F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BF00E-D760-4A4A-B1C1-58AC531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4E8A5-FFBD-45CB-8E37-F81C1A434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CDAF7-D570-441A-8ED8-A35B71C7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2CDB3-06A8-46E9-AF92-99586BBA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68675-433B-4260-AA13-18CB0AD5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C35F-A6C7-44FE-B7A6-43FDBED5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B2F3B-27E8-4B33-893A-13045387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5E2EF-A7A4-4B1F-9F6A-D9791125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3B84-EB70-493E-A4D4-2600E041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47D7A-BD36-4D7F-AA2F-048FAFF5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A1AC7-FEA0-4361-B1A1-025C4316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FF7C-F19C-4848-BE41-A4DCE73C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1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B42C-5915-49F8-8304-1CA59C85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62A8-B6C6-4BDD-819E-EE732931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6A9D9-8ABF-4CEE-92F6-C7CADDE55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FBDF0-9488-4CE4-9F87-D29D7431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F29E-AE2F-4CFF-AB87-FA8F889B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74583-6D2A-47A6-A64E-8777CB9E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7F9F-64D0-4DF3-91BE-661E1CC6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2FED8-1137-4793-BF53-6976237B9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2D1F1-2085-4EA8-A346-56A53375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7C473-09DE-4934-9D5C-134D4CA7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24ADD-28FF-4C54-8FC0-B876F228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7DF56-31FE-4C5E-A65A-F9A5D7D4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8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2E8E-D94D-408B-8ADF-2137468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45949-7E08-4EEB-A7EC-17BC9A9F9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D840F-CEC7-4873-A8AC-B4C7866B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2154-1C88-4F0D-8D0D-90AD04FA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63D2C-1FFC-4083-B520-BF96D6D6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FA373-5E24-41AE-99E8-936228E9B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8D1BD-8E76-4E55-BA59-8C9C6DEF9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6B08-77D5-4EC5-9341-5017E723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C922-4E8E-486F-BE97-DCDD1CE4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27B4-7BDE-4119-98E7-B3C7674C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156C-4233-4BBD-8985-D14F51B1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3FA0D-4685-44C3-862F-1840924E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4744-D66D-4CA2-AB9D-9C9A517ED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365C-1477-4B75-8010-6768DA6F4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1452-DDE7-4D14-A2B9-EF06B6E1D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9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34C1FD-8E33-4068-8AE9-7D5B2E110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4947"/>
            <a:ext cx="9355494" cy="138093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/>
            </a:r>
            <a:br>
              <a:rPr lang="en-US" dirty="0"/>
            </a:br>
            <a:r>
              <a:rPr lang="en-US" sz="4900" b="1" dirty="0">
                <a:latin typeface="Arial Narrow" panose="020B0606020202030204" pitchFamily="34" charset="0"/>
              </a:rPr>
              <a:t>Uganda Intergovernmental Fiscal Transfers Program </a:t>
            </a:r>
            <a:r>
              <a:rPr lang="en-US" sz="4900" b="1" dirty="0" smtClean="0">
                <a:latin typeface="Arial Narrow" panose="020B0606020202030204" pitchFamily="34" charset="0"/>
              </a:rPr>
              <a:t>(UgIFT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18914E-FF71-4BFB-B0EC-AE64B37C7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5714"/>
            <a:ext cx="9144000" cy="2267339"/>
          </a:xfrm>
        </p:spPr>
        <p:txBody>
          <a:bodyPr>
            <a:normAutofit fontScale="92500" lnSpcReduction="10000"/>
          </a:bodyPr>
          <a:lstStyle/>
          <a:p>
            <a:r>
              <a:rPr lang="en-US" sz="5400" b="1" dirty="0">
                <a:solidFill>
                  <a:srgbClr val="FFC000"/>
                </a:solidFill>
                <a:latin typeface="Bahnschrift SemiBold Condensed" panose="020B0502040204020203" pitchFamily="34" charset="0"/>
              </a:rPr>
              <a:t>ASSET VERIFICATION PROCESS TRAINING</a:t>
            </a:r>
          </a:p>
          <a:p>
            <a:endParaRPr lang="en-US" sz="5400" b="1" dirty="0">
              <a:latin typeface="Bahnschrift SemiBold Condensed" panose="020B0502040204020203" pitchFamily="34" charset="0"/>
            </a:endParaRPr>
          </a:p>
          <a:p>
            <a:r>
              <a:rPr lang="en-US" sz="5400" b="1" dirty="0" smtClean="0">
                <a:latin typeface="Bahnschrift SemiBold Condensed" panose="020B0502040204020203" pitchFamily="34" charset="0"/>
              </a:rPr>
              <a:t>AUGUST</a:t>
            </a:r>
            <a:r>
              <a:rPr lang="en-US" sz="5400" b="1" dirty="0" smtClean="0">
                <a:latin typeface="Bahnschrift SemiBold Condensed" panose="020B0502040204020203" pitchFamily="34" charset="0"/>
              </a:rPr>
              <a:t> </a:t>
            </a:r>
            <a:r>
              <a:rPr lang="en-US" sz="5400" b="1" dirty="0">
                <a:latin typeface="Bahnschrift SemiBold Condensed" panose="020B0502040204020203" pitchFamily="34" charset="0"/>
              </a:rPr>
              <a:t>2026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7635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45E9-FCA8-42D6-A0E6-52EF5A45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602020203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Outline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0D08-1BB0-4C20-805F-A3D05D5CB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771"/>
            <a:ext cx="10515600" cy="378058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Approach to the asset verification exercise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Process of asset verification at the LG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Reporting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Ethical Conduct</a:t>
            </a:r>
            <a:endParaRPr lang="en-US" sz="3600" dirty="0">
              <a:latin typeface="Arial Narrow" panose="020B060602020203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6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158C-5F11-A15F-85B7-38C78952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873"/>
            <a:ext cx="10515600" cy="869430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Approach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A769-0D88-6E1F-B0B6-0FD4A62ED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134"/>
            <a:ext cx="10515600" cy="4857829"/>
          </a:xfrm>
        </p:spPr>
        <p:txBody>
          <a:bodyPr/>
          <a:lstStyle/>
          <a:p>
            <a:pPr algn="just"/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Asset verification will cover two </a:t>
            </a:r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levels as mentioned below:</a:t>
            </a:r>
            <a:endParaRPr lang="en-US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At the MDA level, the verification will focus on retooling assets including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ICT equipment, Furniture,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otor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ycles and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Motor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Vehicles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At the Local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Government/ facility level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, the verification will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focus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on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all UgIFT assets received in schools, health centers and the three regional blood banks (</a:t>
            </a:r>
            <a:r>
              <a:rPr lang="en-US" sz="2800" dirty="0" err="1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Arua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Soroti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and Hoima).</a:t>
            </a:r>
            <a:endParaRPr lang="en-US" sz="2800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800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Verify </a:t>
            </a:r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Asset </a:t>
            </a:r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Records, document the Physical and Functional conditions of the </a:t>
            </a:r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assets</a:t>
            </a:r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Migrate </a:t>
            </a:r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all verified asset data into IFMS </a:t>
            </a:r>
            <a:r>
              <a:rPr lang="en-US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structure.</a:t>
            </a:r>
            <a:endParaRPr lang="en-US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7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4DF3-D842-02B7-CF61-96490874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At local government level,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0E229-3F21-2762-BAAA-39CE0F51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496276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team shall do the following</a:t>
            </a:r>
            <a:r>
              <a:rPr lang="en-US" sz="3600" dirty="0">
                <a:latin typeface="Arial Narrow" panose="020B060602020203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:</a:t>
            </a:r>
          </a:p>
          <a:p>
            <a:pPr lvl="1"/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Courtesy call to the </a:t>
            </a: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LG </a:t>
            </a:r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leadership </a:t>
            </a: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and </a:t>
            </a:r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introduce your self and purpose of visit (Ensure to sign the visitors’ book at </a:t>
            </a: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office of CAO/TC).</a:t>
            </a:r>
            <a:endParaRPr lang="en-US" sz="3600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  <a:defRPr/>
            </a:pP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Review the Asset Register at the LG </a:t>
            </a:r>
            <a:endParaRPr lang="en-US" sz="3600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  <a:defRPr/>
            </a:pPr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Interview </a:t>
            </a: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relevant officers such as CFO, DEO and DHO and document </a:t>
            </a:r>
            <a:r>
              <a:rPr lang="en-US" sz="36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asset management practices </a:t>
            </a:r>
            <a:r>
              <a:rPr lang="en-US" sz="36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and challenges.</a:t>
            </a:r>
            <a:endParaRPr lang="en-GB" sz="3600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1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B3C5-78DC-6AA7-4F37-3CACE266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BCED-944D-5D74-0514-8B3E8CB8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At local government level-</a:t>
            </a:r>
            <a:r>
              <a:rPr lang="en-US" dirty="0" err="1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Cont</a:t>
            </a:r>
            <a:r>
              <a:rPr lang="en-US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BD26C-0BB2-E754-FCD8-6E4BBAF00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12"/>
            <a:ext cx="10515600" cy="5127651"/>
          </a:xfrm>
        </p:spPr>
        <p:txBody>
          <a:bodyPr>
            <a:normAutofit/>
          </a:bodyPr>
          <a:lstStyle/>
          <a:p>
            <a:pPr lvl="1" algn="just"/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Conduct 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site visit to schools and health </a:t>
            </a:r>
            <a:r>
              <a:rPr lang="en-US" sz="2800" dirty="0" err="1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centres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and verify the available assets as per the asset register at the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LG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level. </a:t>
            </a:r>
          </a:p>
          <a:p>
            <a:pPr lvl="1" algn="just"/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Take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photographic evidence clearly showing status of the  assets as supporting evidence across the field visits</a:t>
            </a:r>
          </a:p>
          <a:p>
            <a:pPr lvl="1" algn="just"/>
            <a:r>
              <a:rPr lang="en-US" sz="2800" dirty="0" smtClean="0">
                <a:latin typeface="Arial Narrow" panose="020B060602020203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E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ngage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administrators/management of the facility (school / health centre) to discuss functionality aspects, and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document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any operation and maintenance challenges</a:t>
            </a:r>
          </a:p>
          <a:p>
            <a:pPr lvl="1" algn="just"/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Debrief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LG on some key findings regarding the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UgIFT assets.</a:t>
            </a:r>
            <a:endParaRPr lang="en-US" sz="2800" dirty="0">
              <a:latin typeface="Arial Narrow" panose="020B060602020203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Make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 brief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about the process indicating the general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issues found and the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challenges of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Asset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management.</a:t>
            </a:r>
          </a:p>
          <a:p>
            <a:pPr lvl="1" algn="just"/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Submit the report (including photos) </a:t>
            </a:r>
            <a:r>
              <a:rPr lang="en-US" sz="2800" dirty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for each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LG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Arial Narrow" panose="020B060602020203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to your supervisor.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7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DC5D-15DE-4BE7-B730-6AC121B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145"/>
          </a:xfrm>
        </p:spPr>
        <p:txBody>
          <a:bodyPr>
            <a:noAutofit/>
          </a:bodyPr>
          <a:lstStyle/>
          <a:p>
            <a:r>
              <a:rPr lang="en-US" sz="3800" b="1" dirty="0">
                <a:latin typeface="Arial Narrow" panose="020B0606020202030204" pitchFamily="34" charset="0"/>
              </a:rPr>
              <a:t>Ethical </a:t>
            </a:r>
            <a:r>
              <a:rPr lang="en-US" sz="3800" b="1" dirty="0" smtClean="0">
                <a:latin typeface="Arial Narrow" panose="020B0606020202030204" pitchFamily="34" charset="0"/>
              </a:rPr>
              <a:t>conduct </a:t>
            </a:r>
            <a:r>
              <a:rPr lang="en-US" sz="3800" b="1" dirty="0">
                <a:latin typeface="Arial Narrow" panose="020B0606020202030204" pitchFamily="34" charset="0"/>
              </a:rPr>
              <a:t>during the verification process</a:t>
            </a:r>
            <a:endParaRPr lang="en-US" sz="3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0688B2-2D0E-4869-8F8A-AE2234204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877273"/>
              </p:ext>
            </p:extLst>
          </p:nvPr>
        </p:nvGraphicFramePr>
        <p:xfrm>
          <a:off x="725557" y="1262270"/>
          <a:ext cx="10863469" cy="5049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195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31CBB-FA2D-DA8B-FF41-0A55C3830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7437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Arial Narrow" panose="020B0606020202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78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373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Arial Narrow</vt:lpstr>
      <vt:lpstr>Bahnschrift SemiBold Condensed</vt:lpstr>
      <vt:lpstr>Calibri</vt:lpstr>
      <vt:lpstr>Calibri Light</vt:lpstr>
      <vt:lpstr>Cambria</vt:lpstr>
      <vt:lpstr>Symbol</vt:lpstr>
      <vt:lpstr>Tahoma</vt:lpstr>
      <vt:lpstr>Times New Roman</vt:lpstr>
      <vt:lpstr>Wingdings</vt:lpstr>
      <vt:lpstr>Office Theme</vt:lpstr>
      <vt:lpstr> Uganda Intergovernmental Fiscal Transfers Program (UgIFT)</vt:lpstr>
      <vt:lpstr>Outline</vt:lpstr>
      <vt:lpstr>Approach</vt:lpstr>
      <vt:lpstr>At local government level,</vt:lpstr>
      <vt:lpstr>At local government level-Cont: </vt:lpstr>
      <vt:lpstr>Ethical conduct during the verification process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Rashid Kiwanuka</dc:creator>
  <cp:lastModifiedBy>sulainah</cp:lastModifiedBy>
  <cp:revision>35</cp:revision>
  <dcterms:created xsi:type="dcterms:W3CDTF">2026-06-22T09:02:27Z</dcterms:created>
  <dcterms:modified xsi:type="dcterms:W3CDTF">2026-08-17T14:57:53Z</dcterms:modified>
</cp:coreProperties>
</file>